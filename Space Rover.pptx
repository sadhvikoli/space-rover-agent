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Fira Sans Medium"/>
      <p:regular r:id="rId34"/>
      <p:bold r:id="rId35"/>
      <p:italic r:id="rId36"/>
      <p:boldItalic r:id="rId37"/>
    </p:embeddedFont>
    <p:embeddedFont>
      <p:font typeface="Fira Sans"/>
      <p:regular r:id="rId38"/>
      <p:bold r:id="rId39"/>
      <p:italic r:id="rId40"/>
      <p:boldItalic r:id="rId41"/>
    </p:embeddedFont>
    <p:embeddedFont>
      <p:font typeface="Fira Sans Extra Condensed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07DE5B-5D63-444F-9CD2-8C92953F459E}">
  <a:tblStyle styleId="{FC07DE5B-5D63-444F-9CD2-8C92953F4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-italic.fntdata"/><Relationship Id="rId20" Type="http://schemas.openxmlformats.org/officeDocument/2006/relationships/slide" Target="slides/slide14.xml"/><Relationship Id="rId42" Type="http://schemas.openxmlformats.org/officeDocument/2006/relationships/font" Target="fonts/FiraSansExtraCondensedSemiBold-regular.fntdata"/><Relationship Id="rId41" Type="http://schemas.openxmlformats.org/officeDocument/2006/relationships/font" Target="fonts/FiraSans-boldItalic.fntdata"/><Relationship Id="rId22" Type="http://schemas.openxmlformats.org/officeDocument/2006/relationships/slide" Target="slides/slide16.xml"/><Relationship Id="rId44" Type="http://schemas.openxmlformats.org/officeDocument/2006/relationships/font" Target="fonts/FiraSansExtraCondensedSemiBold-italic.fntdata"/><Relationship Id="rId21" Type="http://schemas.openxmlformats.org/officeDocument/2006/relationships/slide" Target="slides/slide15.xml"/><Relationship Id="rId43" Type="http://schemas.openxmlformats.org/officeDocument/2006/relationships/font" Target="fonts/FiraSansExtraCondensedSemiBol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FiraSansExtraCondensed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FiraSansMedium-bold.fntdata"/><Relationship Id="rId12" Type="http://schemas.openxmlformats.org/officeDocument/2006/relationships/slide" Target="slides/slide6.xml"/><Relationship Id="rId34" Type="http://schemas.openxmlformats.org/officeDocument/2006/relationships/font" Target="fonts/FiraSansMedium-regular.fntdata"/><Relationship Id="rId15" Type="http://schemas.openxmlformats.org/officeDocument/2006/relationships/slide" Target="slides/slide9.xml"/><Relationship Id="rId37" Type="http://schemas.openxmlformats.org/officeDocument/2006/relationships/font" Target="fonts/FiraSans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FiraSansMedium-italic.fntdata"/><Relationship Id="rId17" Type="http://schemas.openxmlformats.org/officeDocument/2006/relationships/slide" Target="slides/slide11.xml"/><Relationship Id="rId39" Type="http://schemas.openxmlformats.org/officeDocument/2006/relationships/font" Target="fonts/FiraSans-bold.fntdata"/><Relationship Id="rId16" Type="http://schemas.openxmlformats.org/officeDocument/2006/relationships/slide" Target="slides/slide10.xml"/><Relationship Id="rId38" Type="http://schemas.openxmlformats.org/officeDocument/2006/relationships/font" Target="fonts/Fira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2929026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2929026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1ed6c2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1ed6c2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4dbf258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4dbf258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84dbf258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84dbf258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84dbf258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84dbf258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4dbf258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84dbf258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84dbf258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84dbf258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84dbf258f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84dbf258f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4dbf258f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84dbf258f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78be75f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78be75f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78be75f3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78be75f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8be75f3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78be75f3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78be75f3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78be75f3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78be75f3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78be75f3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78be75f3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78be75f3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78be75f3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78be75f3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78be75f3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78be75f3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78be75f3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78be75f3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8be75f3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78be75f3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78be75f3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78be75f3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8be75f3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78be75f3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78be75f3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78be75f3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i.org/10.1609/aaai.v39i25.3486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8450" y="411475"/>
            <a:ext cx="82296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Autonomous Map-Based Space Rover Agent </a:t>
            </a:r>
            <a:endParaRPr sz="37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for Simulated Planetary Exploration</a:t>
            </a:r>
            <a:endParaRPr sz="280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18450" y="1868600"/>
            <a:ext cx="5344500" cy="22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Group 6: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Sadhvi Koli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Aayushi Kadam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CSCI-630: Foundations of Artificial Intelligence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Rochester Institute of Technology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April 2026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" name="Google Shape;56;p13" title="spa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475" y="1756400"/>
            <a:ext cx="2980200" cy="29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What should a rover prioritize ?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67125" y="2172599"/>
            <a:ext cx="21072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shortest path?</a:t>
            </a:r>
            <a:endParaRPr sz="24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8698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869800" y="3468799"/>
            <a:ext cx="18171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collecting all resources?</a:t>
            </a:r>
            <a:endParaRPr sz="24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2340526" y="1715468"/>
            <a:ext cx="4462948" cy="2516619"/>
            <a:chOff x="2185750" y="2059275"/>
            <a:chExt cx="3230275" cy="1821525"/>
          </a:xfrm>
        </p:grpSpPr>
        <p:sp>
          <p:nvSpPr>
            <p:cNvPr id="66" name="Google Shape;66;p14"/>
            <p:cNvSpPr/>
            <p:nvPr/>
          </p:nvSpPr>
          <p:spPr>
            <a:xfrm>
              <a:off x="4530075" y="3260850"/>
              <a:ext cx="552650" cy="552650"/>
            </a:xfrm>
            <a:custGeom>
              <a:rect b="b" l="l" r="r" t="t"/>
              <a:pathLst>
                <a:path extrusionOk="0" h="22106" w="22106">
                  <a:moveTo>
                    <a:pt x="11053" y="2186"/>
                  </a:moveTo>
                  <a:cubicBezTo>
                    <a:pt x="15961" y="2186"/>
                    <a:pt x="19920" y="6176"/>
                    <a:pt x="19920" y="11053"/>
                  </a:cubicBezTo>
                  <a:cubicBezTo>
                    <a:pt x="19920" y="15962"/>
                    <a:pt x="15961" y="19952"/>
                    <a:pt x="11053" y="19952"/>
                  </a:cubicBezTo>
                  <a:cubicBezTo>
                    <a:pt x="6144" y="19952"/>
                    <a:pt x="2154" y="15962"/>
                    <a:pt x="2154" y="11053"/>
                  </a:cubicBezTo>
                  <a:cubicBezTo>
                    <a:pt x="2154" y="6176"/>
                    <a:pt x="6144" y="2186"/>
                    <a:pt x="11053" y="2186"/>
                  </a:cubicBezTo>
                  <a:close/>
                  <a:moveTo>
                    <a:pt x="11053" y="1"/>
                  </a:moveTo>
                  <a:cubicBezTo>
                    <a:pt x="4940" y="1"/>
                    <a:pt x="0" y="4973"/>
                    <a:pt x="0" y="11053"/>
                  </a:cubicBezTo>
                  <a:cubicBezTo>
                    <a:pt x="0" y="17165"/>
                    <a:pt x="4972" y="22106"/>
                    <a:pt x="11053" y="22106"/>
                  </a:cubicBezTo>
                  <a:cubicBezTo>
                    <a:pt x="17133" y="22106"/>
                    <a:pt x="22105" y="17165"/>
                    <a:pt x="22105" y="11053"/>
                  </a:cubicBezTo>
                  <a:cubicBezTo>
                    <a:pt x="22105" y="4973"/>
                    <a:pt x="17133" y="1"/>
                    <a:pt x="1105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4976600" y="2299700"/>
              <a:ext cx="439425" cy="439425"/>
            </a:xfrm>
            <a:custGeom>
              <a:rect b="b" l="l" r="r" t="t"/>
              <a:pathLst>
                <a:path extrusionOk="0" h="17577" w="17577">
                  <a:moveTo>
                    <a:pt x="8804" y="2154"/>
                  </a:moveTo>
                  <a:cubicBezTo>
                    <a:pt x="12446" y="2154"/>
                    <a:pt x="15423" y="5131"/>
                    <a:pt x="15423" y="8805"/>
                  </a:cubicBezTo>
                  <a:cubicBezTo>
                    <a:pt x="15423" y="12447"/>
                    <a:pt x="12446" y="15424"/>
                    <a:pt x="8804" y="15424"/>
                  </a:cubicBezTo>
                  <a:cubicBezTo>
                    <a:pt x="5131" y="15424"/>
                    <a:pt x="2186" y="12447"/>
                    <a:pt x="2186" y="8805"/>
                  </a:cubicBezTo>
                  <a:cubicBezTo>
                    <a:pt x="2186" y="5131"/>
                    <a:pt x="5162" y="2154"/>
                    <a:pt x="8804" y="2154"/>
                  </a:cubicBezTo>
                  <a:close/>
                  <a:moveTo>
                    <a:pt x="8804" y="1"/>
                  </a:moveTo>
                  <a:cubicBezTo>
                    <a:pt x="3959" y="1"/>
                    <a:pt x="0" y="3959"/>
                    <a:pt x="0" y="8805"/>
                  </a:cubicBezTo>
                  <a:cubicBezTo>
                    <a:pt x="0" y="13650"/>
                    <a:pt x="3959" y="17577"/>
                    <a:pt x="8804" y="17577"/>
                  </a:cubicBezTo>
                  <a:cubicBezTo>
                    <a:pt x="13650" y="17577"/>
                    <a:pt x="17577" y="13650"/>
                    <a:pt x="17577" y="8805"/>
                  </a:cubicBezTo>
                  <a:cubicBezTo>
                    <a:pt x="17577" y="3959"/>
                    <a:pt x="13650" y="1"/>
                    <a:pt x="88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2185750" y="2387600"/>
              <a:ext cx="507525" cy="508300"/>
            </a:xfrm>
            <a:custGeom>
              <a:rect b="b" l="l" r="r" t="t"/>
              <a:pathLst>
                <a:path extrusionOk="0" h="20332" w="20301">
                  <a:moveTo>
                    <a:pt x="10135" y="2185"/>
                  </a:moveTo>
                  <a:cubicBezTo>
                    <a:pt x="14569" y="2185"/>
                    <a:pt x="18147" y="5764"/>
                    <a:pt x="18147" y="10166"/>
                  </a:cubicBezTo>
                  <a:cubicBezTo>
                    <a:pt x="18147" y="14599"/>
                    <a:pt x="14569" y="18178"/>
                    <a:pt x="10135" y="18178"/>
                  </a:cubicBezTo>
                  <a:cubicBezTo>
                    <a:pt x="5733" y="18178"/>
                    <a:pt x="2154" y="14599"/>
                    <a:pt x="2154" y="10166"/>
                  </a:cubicBezTo>
                  <a:cubicBezTo>
                    <a:pt x="2154" y="5764"/>
                    <a:pt x="5733" y="2185"/>
                    <a:pt x="10135" y="2185"/>
                  </a:cubicBezTo>
                  <a:close/>
                  <a:moveTo>
                    <a:pt x="10135" y="0"/>
                  </a:moveTo>
                  <a:cubicBezTo>
                    <a:pt x="4530" y="0"/>
                    <a:pt x="1" y="4560"/>
                    <a:pt x="1" y="10166"/>
                  </a:cubicBezTo>
                  <a:cubicBezTo>
                    <a:pt x="1" y="15771"/>
                    <a:pt x="4561" y="20331"/>
                    <a:pt x="10135" y="20331"/>
                  </a:cubicBezTo>
                  <a:cubicBezTo>
                    <a:pt x="15740" y="20331"/>
                    <a:pt x="20301" y="15771"/>
                    <a:pt x="20301" y="10166"/>
                  </a:cubicBezTo>
                  <a:cubicBezTo>
                    <a:pt x="20301" y="4560"/>
                    <a:pt x="15740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603000" y="3506300"/>
              <a:ext cx="374500" cy="374500"/>
            </a:xfrm>
            <a:custGeom>
              <a:rect b="b" l="l" r="r" t="t"/>
              <a:pathLst>
                <a:path extrusionOk="0" h="14980" w="14980">
                  <a:moveTo>
                    <a:pt x="7506" y="2185"/>
                  </a:moveTo>
                  <a:cubicBezTo>
                    <a:pt x="10420" y="2185"/>
                    <a:pt x="12826" y="4560"/>
                    <a:pt x="12826" y="7506"/>
                  </a:cubicBezTo>
                  <a:cubicBezTo>
                    <a:pt x="12826" y="10419"/>
                    <a:pt x="10420" y="12794"/>
                    <a:pt x="7506" y="12794"/>
                  </a:cubicBezTo>
                  <a:cubicBezTo>
                    <a:pt x="4561" y="12794"/>
                    <a:pt x="2186" y="10419"/>
                    <a:pt x="2186" y="7506"/>
                  </a:cubicBezTo>
                  <a:cubicBezTo>
                    <a:pt x="2186" y="4560"/>
                    <a:pt x="4561" y="2185"/>
                    <a:pt x="7506" y="2185"/>
                  </a:cubicBezTo>
                  <a:close/>
                  <a:moveTo>
                    <a:pt x="7506" y="0"/>
                  </a:moveTo>
                  <a:cubicBezTo>
                    <a:pt x="3357" y="0"/>
                    <a:pt x="1" y="3357"/>
                    <a:pt x="1" y="7474"/>
                  </a:cubicBezTo>
                  <a:cubicBezTo>
                    <a:pt x="1" y="11623"/>
                    <a:pt x="3357" y="14980"/>
                    <a:pt x="7506" y="14980"/>
                  </a:cubicBezTo>
                  <a:cubicBezTo>
                    <a:pt x="11623" y="14980"/>
                    <a:pt x="14980" y="11623"/>
                    <a:pt x="14980" y="7474"/>
                  </a:cubicBezTo>
                  <a:cubicBezTo>
                    <a:pt x="14980" y="3357"/>
                    <a:pt x="11623" y="0"/>
                    <a:pt x="75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4264050" y="3195925"/>
              <a:ext cx="344425" cy="232000"/>
            </a:xfrm>
            <a:custGeom>
              <a:rect b="b" l="l" r="r" t="t"/>
              <a:pathLst>
                <a:path extrusionOk="0" h="9280" w="13777">
                  <a:moveTo>
                    <a:pt x="1077" y="1"/>
                  </a:moveTo>
                  <a:lnTo>
                    <a:pt x="0" y="1869"/>
                  </a:lnTo>
                  <a:lnTo>
                    <a:pt x="12700" y="9280"/>
                  </a:lnTo>
                  <a:lnTo>
                    <a:pt x="13776" y="7411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4263250" y="2574425"/>
              <a:ext cx="749800" cy="292975"/>
            </a:xfrm>
            <a:custGeom>
              <a:rect b="b" l="l" r="r" t="t"/>
              <a:pathLst>
                <a:path extrusionOk="0" h="11719" w="29992">
                  <a:moveTo>
                    <a:pt x="29294" y="1"/>
                  </a:moveTo>
                  <a:lnTo>
                    <a:pt x="1" y="9692"/>
                  </a:lnTo>
                  <a:lnTo>
                    <a:pt x="666" y="11718"/>
                  </a:lnTo>
                  <a:lnTo>
                    <a:pt x="29991" y="2028"/>
                  </a:lnTo>
                  <a:lnTo>
                    <a:pt x="2929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2652075" y="2671025"/>
              <a:ext cx="598575" cy="227250"/>
            </a:xfrm>
            <a:custGeom>
              <a:rect b="b" l="l" r="r" t="t"/>
              <a:pathLst>
                <a:path extrusionOk="0" h="9090" w="23943">
                  <a:moveTo>
                    <a:pt x="603" y="0"/>
                  </a:moveTo>
                  <a:lnTo>
                    <a:pt x="1" y="2091"/>
                  </a:lnTo>
                  <a:lnTo>
                    <a:pt x="23309" y="9089"/>
                  </a:lnTo>
                  <a:lnTo>
                    <a:pt x="23943" y="6999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2920475" y="3168225"/>
              <a:ext cx="183725" cy="183700"/>
            </a:xfrm>
            <a:custGeom>
              <a:rect b="b" l="l" r="r" t="t"/>
              <a:pathLst>
                <a:path extrusionOk="0" h="7348" w="7349">
                  <a:moveTo>
                    <a:pt x="3674" y="2154"/>
                  </a:moveTo>
                  <a:cubicBezTo>
                    <a:pt x="4498" y="2154"/>
                    <a:pt x="5195" y="2851"/>
                    <a:pt x="5195" y="3674"/>
                  </a:cubicBezTo>
                  <a:cubicBezTo>
                    <a:pt x="5195" y="4498"/>
                    <a:pt x="4498" y="5194"/>
                    <a:pt x="3674" y="5194"/>
                  </a:cubicBezTo>
                  <a:cubicBezTo>
                    <a:pt x="2851" y="5194"/>
                    <a:pt x="2154" y="4498"/>
                    <a:pt x="2154" y="3674"/>
                  </a:cubicBezTo>
                  <a:cubicBezTo>
                    <a:pt x="2154" y="2851"/>
                    <a:pt x="2851" y="2154"/>
                    <a:pt x="3674" y="2154"/>
                  </a:cubicBezTo>
                  <a:close/>
                  <a:moveTo>
                    <a:pt x="3674" y="1"/>
                  </a:moveTo>
                  <a:cubicBezTo>
                    <a:pt x="1648" y="1"/>
                    <a:pt x="1" y="1647"/>
                    <a:pt x="1" y="3674"/>
                  </a:cubicBezTo>
                  <a:cubicBezTo>
                    <a:pt x="1" y="5701"/>
                    <a:pt x="1648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1"/>
                    <a:pt x="367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3062200" y="3162675"/>
              <a:ext cx="186075" cy="91075"/>
            </a:xfrm>
            <a:custGeom>
              <a:rect b="b" l="l" r="r" t="t"/>
              <a:pathLst>
                <a:path extrusionOk="0" h="3643" w="7443">
                  <a:moveTo>
                    <a:pt x="6999" y="1"/>
                  </a:moveTo>
                  <a:lnTo>
                    <a:pt x="1" y="1521"/>
                  </a:lnTo>
                  <a:lnTo>
                    <a:pt x="476" y="3643"/>
                  </a:lnTo>
                  <a:lnTo>
                    <a:pt x="7443" y="2123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917325" y="3359025"/>
              <a:ext cx="447350" cy="280300"/>
            </a:xfrm>
            <a:custGeom>
              <a:rect b="b" l="l" r="r" t="t"/>
              <a:pathLst>
                <a:path extrusionOk="0" h="11212" w="17894">
                  <a:moveTo>
                    <a:pt x="16848" y="1"/>
                  </a:moveTo>
                  <a:lnTo>
                    <a:pt x="0" y="9311"/>
                  </a:lnTo>
                  <a:lnTo>
                    <a:pt x="1045" y="11212"/>
                  </a:lnTo>
                  <a:lnTo>
                    <a:pt x="17893" y="1901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4016225" y="3644850"/>
              <a:ext cx="184500" cy="183700"/>
            </a:xfrm>
            <a:custGeom>
              <a:rect b="b" l="l" r="r" t="t"/>
              <a:pathLst>
                <a:path extrusionOk="0" h="7348" w="7380">
                  <a:moveTo>
                    <a:pt x="3706" y="2154"/>
                  </a:moveTo>
                  <a:cubicBezTo>
                    <a:pt x="4529" y="2154"/>
                    <a:pt x="5195" y="2850"/>
                    <a:pt x="5195" y="3674"/>
                  </a:cubicBezTo>
                  <a:cubicBezTo>
                    <a:pt x="5195" y="4497"/>
                    <a:pt x="4529" y="5194"/>
                    <a:pt x="3706" y="5194"/>
                  </a:cubicBezTo>
                  <a:cubicBezTo>
                    <a:pt x="2851" y="5194"/>
                    <a:pt x="2186" y="4497"/>
                    <a:pt x="2186" y="3674"/>
                  </a:cubicBezTo>
                  <a:cubicBezTo>
                    <a:pt x="2186" y="2850"/>
                    <a:pt x="2851" y="2154"/>
                    <a:pt x="3706" y="2154"/>
                  </a:cubicBezTo>
                  <a:close/>
                  <a:moveTo>
                    <a:pt x="3706" y="0"/>
                  </a:moveTo>
                  <a:cubicBezTo>
                    <a:pt x="1648" y="0"/>
                    <a:pt x="1" y="1647"/>
                    <a:pt x="1" y="3674"/>
                  </a:cubicBezTo>
                  <a:cubicBezTo>
                    <a:pt x="1" y="5701"/>
                    <a:pt x="1648" y="7347"/>
                    <a:pt x="3706" y="7347"/>
                  </a:cubicBezTo>
                  <a:cubicBezTo>
                    <a:pt x="5733" y="7347"/>
                    <a:pt x="7380" y="5701"/>
                    <a:pt x="7380" y="3674"/>
                  </a:cubicBezTo>
                  <a:cubicBezTo>
                    <a:pt x="7380" y="1647"/>
                    <a:pt x="5733" y="0"/>
                    <a:pt x="37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3987725" y="3503925"/>
              <a:ext cx="121175" cy="178950"/>
            </a:xfrm>
            <a:custGeom>
              <a:rect b="b" l="l" r="r" t="t"/>
              <a:pathLst>
                <a:path extrusionOk="0" h="7158" w="4847">
                  <a:moveTo>
                    <a:pt x="1964" y="0"/>
                  </a:moveTo>
                  <a:lnTo>
                    <a:pt x="1" y="919"/>
                  </a:lnTo>
                  <a:lnTo>
                    <a:pt x="2883" y="7157"/>
                  </a:lnTo>
                  <a:lnTo>
                    <a:pt x="4846" y="6239"/>
                  </a:lnTo>
                  <a:lnTo>
                    <a:pt x="196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312375" y="2224300"/>
              <a:ext cx="191625" cy="184175"/>
            </a:xfrm>
            <a:custGeom>
              <a:rect b="b" l="l" r="r" t="t"/>
              <a:pathLst>
                <a:path extrusionOk="0" h="7367" w="7665">
                  <a:moveTo>
                    <a:pt x="3825" y="2189"/>
                  </a:moveTo>
                  <a:cubicBezTo>
                    <a:pt x="4599" y="2189"/>
                    <a:pt x="5261" y="2773"/>
                    <a:pt x="5321" y="3587"/>
                  </a:cubicBezTo>
                  <a:cubicBezTo>
                    <a:pt x="5385" y="4410"/>
                    <a:pt x="4783" y="5139"/>
                    <a:pt x="3928" y="5202"/>
                  </a:cubicBezTo>
                  <a:cubicBezTo>
                    <a:pt x="3890" y="5205"/>
                    <a:pt x="3852" y="5206"/>
                    <a:pt x="3814" y="5206"/>
                  </a:cubicBezTo>
                  <a:cubicBezTo>
                    <a:pt x="3039" y="5206"/>
                    <a:pt x="2373" y="4594"/>
                    <a:pt x="2313" y="3808"/>
                  </a:cubicBezTo>
                  <a:cubicBezTo>
                    <a:pt x="2250" y="2985"/>
                    <a:pt x="2883" y="2257"/>
                    <a:pt x="3706" y="2193"/>
                  </a:cubicBezTo>
                  <a:cubicBezTo>
                    <a:pt x="3746" y="2190"/>
                    <a:pt x="3786" y="2189"/>
                    <a:pt x="3825" y="2189"/>
                  </a:cubicBezTo>
                  <a:close/>
                  <a:moveTo>
                    <a:pt x="3784" y="1"/>
                  </a:moveTo>
                  <a:cubicBezTo>
                    <a:pt x="3706" y="1"/>
                    <a:pt x="3627" y="3"/>
                    <a:pt x="3548" y="8"/>
                  </a:cubicBezTo>
                  <a:cubicBezTo>
                    <a:pt x="1521" y="167"/>
                    <a:pt x="1" y="1940"/>
                    <a:pt x="159" y="3967"/>
                  </a:cubicBezTo>
                  <a:cubicBezTo>
                    <a:pt x="310" y="5896"/>
                    <a:pt x="1896" y="7367"/>
                    <a:pt x="3797" y="7367"/>
                  </a:cubicBezTo>
                  <a:cubicBezTo>
                    <a:pt x="3892" y="7367"/>
                    <a:pt x="3989" y="7363"/>
                    <a:pt x="4086" y="7355"/>
                  </a:cubicBezTo>
                  <a:cubicBezTo>
                    <a:pt x="6113" y="7229"/>
                    <a:pt x="7665" y="5455"/>
                    <a:pt x="7507" y="3428"/>
                  </a:cubicBezTo>
                  <a:cubicBezTo>
                    <a:pt x="7354" y="1481"/>
                    <a:pt x="5711" y="1"/>
                    <a:pt x="3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412925" y="2366200"/>
              <a:ext cx="131475" cy="177375"/>
            </a:xfrm>
            <a:custGeom>
              <a:rect b="b" l="l" r="r" t="t"/>
              <a:pathLst>
                <a:path extrusionOk="0" h="7095" w="5259">
                  <a:moveTo>
                    <a:pt x="1901" y="1"/>
                  </a:moveTo>
                  <a:lnTo>
                    <a:pt x="1" y="1078"/>
                  </a:lnTo>
                  <a:lnTo>
                    <a:pt x="3358" y="7095"/>
                  </a:lnTo>
                  <a:lnTo>
                    <a:pt x="5258" y="6018"/>
                  </a:lnTo>
                  <a:lnTo>
                    <a:pt x="190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122325" y="2059275"/>
              <a:ext cx="209825" cy="184225"/>
            </a:xfrm>
            <a:custGeom>
              <a:rect b="b" l="l" r="r" t="t"/>
              <a:pathLst>
                <a:path extrusionOk="0" h="7369" w="8393">
                  <a:moveTo>
                    <a:pt x="4183" y="2167"/>
                  </a:moveTo>
                  <a:cubicBezTo>
                    <a:pt x="4666" y="2167"/>
                    <a:pt x="5150" y="2404"/>
                    <a:pt x="5448" y="2841"/>
                  </a:cubicBezTo>
                  <a:cubicBezTo>
                    <a:pt x="5923" y="3537"/>
                    <a:pt x="5733" y="4487"/>
                    <a:pt x="5036" y="4962"/>
                  </a:cubicBezTo>
                  <a:cubicBezTo>
                    <a:pt x="4780" y="5125"/>
                    <a:pt x="4491" y="5202"/>
                    <a:pt x="4204" y="5202"/>
                  </a:cubicBezTo>
                  <a:cubicBezTo>
                    <a:pt x="3710" y="5202"/>
                    <a:pt x="3226" y="4972"/>
                    <a:pt x="2946" y="4551"/>
                  </a:cubicBezTo>
                  <a:cubicBezTo>
                    <a:pt x="2471" y="3854"/>
                    <a:pt x="2661" y="2904"/>
                    <a:pt x="3357" y="2429"/>
                  </a:cubicBezTo>
                  <a:cubicBezTo>
                    <a:pt x="3606" y="2251"/>
                    <a:pt x="3894" y="2167"/>
                    <a:pt x="4183" y="2167"/>
                  </a:cubicBezTo>
                  <a:close/>
                  <a:moveTo>
                    <a:pt x="4170" y="1"/>
                  </a:moveTo>
                  <a:cubicBezTo>
                    <a:pt x="3467" y="1"/>
                    <a:pt x="2756" y="201"/>
                    <a:pt x="2122" y="624"/>
                  </a:cubicBezTo>
                  <a:cubicBezTo>
                    <a:pt x="444" y="1764"/>
                    <a:pt x="0" y="4076"/>
                    <a:pt x="1141" y="5754"/>
                  </a:cubicBezTo>
                  <a:cubicBezTo>
                    <a:pt x="1853" y="6802"/>
                    <a:pt x="3009" y="7369"/>
                    <a:pt x="4186" y="7369"/>
                  </a:cubicBezTo>
                  <a:cubicBezTo>
                    <a:pt x="4894" y="7369"/>
                    <a:pt x="5609" y="7164"/>
                    <a:pt x="6239" y="6736"/>
                  </a:cubicBezTo>
                  <a:cubicBezTo>
                    <a:pt x="7949" y="5627"/>
                    <a:pt x="8393" y="3316"/>
                    <a:pt x="7253" y="1637"/>
                  </a:cubicBezTo>
                  <a:cubicBezTo>
                    <a:pt x="6535" y="581"/>
                    <a:pt x="5365" y="1"/>
                    <a:pt x="41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3978225" y="2193625"/>
              <a:ext cx="231225" cy="346000"/>
            </a:xfrm>
            <a:custGeom>
              <a:rect b="b" l="l" r="r" t="t"/>
              <a:pathLst>
                <a:path extrusionOk="0" h="13840" w="9249">
                  <a:moveTo>
                    <a:pt x="7411" y="0"/>
                  </a:moveTo>
                  <a:lnTo>
                    <a:pt x="1" y="12731"/>
                  </a:lnTo>
                  <a:lnTo>
                    <a:pt x="1869" y="13839"/>
                  </a:lnTo>
                  <a:lnTo>
                    <a:pt x="9248" y="1140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3189675" y="2450925"/>
              <a:ext cx="1152775" cy="1152775"/>
            </a:xfrm>
            <a:custGeom>
              <a:rect b="b" l="l" r="r" t="t"/>
              <a:pathLst>
                <a:path extrusionOk="0" h="46111" w="46111">
                  <a:moveTo>
                    <a:pt x="23055" y="2439"/>
                  </a:moveTo>
                  <a:cubicBezTo>
                    <a:pt x="27616" y="2439"/>
                    <a:pt x="31828" y="3927"/>
                    <a:pt x="35248" y="6461"/>
                  </a:cubicBezTo>
                  <a:cubicBezTo>
                    <a:pt x="39428" y="9501"/>
                    <a:pt x="42405" y="14093"/>
                    <a:pt x="43355" y="19382"/>
                  </a:cubicBezTo>
                  <a:cubicBezTo>
                    <a:pt x="43577" y="20585"/>
                    <a:pt x="43672" y="21820"/>
                    <a:pt x="43672" y="23055"/>
                  </a:cubicBezTo>
                  <a:cubicBezTo>
                    <a:pt x="43672" y="34425"/>
                    <a:pt x="34425" y="43672"/>
                    <a:pt x="23055" y="43672"/>
                  </a:cubicBezTo>
                  <a:cubicBezTo>
                    <a:pt x="11686" y="43672"/>
                    <a:pt x="2439" y="34425"/>
                    <a:pt x="2439" y="23055"/>
                  </a:cubicBezTo>
                  <a:cubicBezTo>
                    <a:pt x="2439" y="18970"/>
                    <a:pt x="3642" y="15170"/>
                    <a:pt x="5701" y="11971"/>
                  </a:cubicBezTo>
                  <a:cubicBezTo>
                    <a:pt x="7158" y="9660"/>
                    <a:pt x="9089" y="7696"/>
                    <a:pt x="11338" y="6113"/>
                  </a:cubicBezTo>
                  <a:cubicBezTo>
                    <a:pt x="14663" y="3801"/>
                    <a:pt x="18717" y="2439"/>
                    <a:pt x="23055" y="2439"/>
                  </a:cubicBezTo>
                  <a:close/>
                  <a:moveTo>
                    <a:pt x="23055" y="1"/>
                  </a:moveTo>
                  <a:cubicBezTo>
                    <a:pt x="18115" y="1"/>
                    <a:pt x="13523" y="1584"/>
                    <a:pt x="9754" y="4244"/>
                  </a:cubicBezTo>
                  <a:cubicBezTo>
                    <a:pt x="7316" y="5986"/>
                    <a:pt x="5194" y="8203"/>
                    <a:pt x="3579" y="10736"/>
                  </a:cubicBezTo>
                  <a:cubicBezTo>
                    <a:pt x="1330" y="14315"/>
                    <a:pt x="0" y="18527"/>
                    <a:pt x="0" y="23055"/>
                  </a:cubicBezTo>
                  <a:cubicBezTo>
                    <a:pt x="0" y="35786"/>
                    <a:pt x="10356" y="46110"/>
                    <a:pt x="23055" y="46110"/>
                  </a:cubicBezTo>
                  <a:cubicBezTo>
                    <a:pt x="35786" y="46110"/>
                    <a:pt x="46110" y="35786"/>
                    <a:pt x="46110" y="23055"/>
                  </a:cubicBezTo>
                  <a:cubicBezTo>
                    <a:pt x="46110" y="21757"/>
                    <a:pt x="46015" y="20459"/>
                    <a:pt x="45794" y="19192"/>
                  </a:cubicBezTo>
                  <a:cubicBezTo>
                    <a:pt x="44780" y="13111"/>
                    <a:pt x="41360" y="7854"/>
                    <a:pt x="36546" y="4371"/>
                  </a:cubicBezTo>
                  <a:cubicBezTo>
                    <a:pt x="32746" y="1616"/>
                    <a:pt x="28091" y="1"/>
                    <a:pt x="230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2696425" y="3599725"/>
              <a:ext cx="187675" cy="187650"/>
            </a:xfrm>
            <a:custGeom>
              <a:rect b="b" l="l" r="r" t="t"/>
              <a:pathLst>
                <a:path extrusionOk="0" h="7506" w="7507">
                  <a:moveTo>
                    <a:pt x="3769" y="2280"/>
                  </a:moveTo>
                  <a:cubicBezTo>
                    <a:pt x="4624" y="2280"/>
                    <a:pt x="5321" y="3009"/>
                    <a:pt x="5321" y="3864"/>
                  </a:cubicBezTo>
                  <a:cubicBezTo>
                    <a:pt x="5321" y="4719"/>
                    <a:pt x="4624" y="5415"/>
                    <a:pt x="3769" y="5415"/>
                  </a:cubicBezTo>
                  <a:lnTo>
                    <a:pt x="3737" y="5415"/>
                  </a:lnTo>
                  <a:cubicBezTo>
                    <a:pt x="2882" y="5415"/>
                    <a:pt x="2186" y="4687"/>
                    <a:pt x="2186" y="3864"/>
                  </a:cubicBezTo>
                  <a:cubicBezTo>
                    <a:pt x="2186" y="3009"/>
                    <a:pt x="2882" y="2312"/>
                    <a:pt x="3737" y="2280"/>
                  </a:cubicBezTo>
                  <a:close/>
                  <a:moveTo>
                    <a:pt x="3009" y="0"/>
                  </a:moveTo>
                  <a:cubicBezTo>
                    <a:pt x="2914" y="0"/>
                    <a:pt x="2819" y="63"/>
                    <a:pt x="2787" y="158"/>
                  </a:cubicBezTo>
                  <a:lnTo>
                    <a:pt x="2597" y="982"/>
                  </a:lnTo>
                  <a:lnTo>
                    <a:pt x="1901" y="538"/>
                  </a:lnTo>
                  <a:cubicBezTo>
                    <a:pt x="1864" y="514"/>
                    <a:pt x="1828" y="504"/>
                    <a:pt x="1792" y="504"/>
                  </a:cubicBezTo>
                  <a:cubicBezTo>
                    <a:pt x="1733" y="504"/>
                    <a:pt x="1674" y="531"/>
                    <a:pt x="1616" y="570"/>
                  </a:cubicBezTo>
                  <a:lnTo>
                    <a:pt x="571" y="1615"/>
                  </a:lnTo>
                  <a:cubicBezTo>
                    <a:pt x="507" y="1710"/>
                    <a:pt x="475" y="1805"/>
                    <a:pt x="539" y="1900"/>
                  </a:cubicBezTo>
                  <a:lnTo>
                    <a:pt x="982" y="2597"/>
                  </a:lnTo>
                  <a:lnTo>
                    <a:pt x="159" y="2787"/>
                  </a:lnTo>
                  <a:cubicBezTo>
                    <a:pt x="64" y="2819"/>
                    <a:pt x="0" y="2914"/>
                    <a:pt x="0" y="3009"/>
                  </a:cubicBezTo>
                  <a:lnTo>
                    <a:pt x="0" y="4497"/>
                  </a:lnTo>
                  <a:cubicBezTo>
                    <a:pt x="0" y="4592"/>
                    <a:pt x="64" y="4687"/>
                    <a:pt x="159" y="4719"/>
                  </a:cubicBezTo>
                  <a:lnTo>
                    <a:pt x="982" y="4909"/>
                  </a:lnTo>
                  <a:lnTo>
                    <a:pt x="539" y="5605"/>
                  </a:lnTo>
                  <a:cubicBezTo>
                    <a:pt x="475" y="5700"/>
                    <a:pt x="507" y="5795"/>
                    <a:pt x="571" y="5891"/>
                  </a:cubicBezTo>
                  <a:lnTo>
                    <a:pt x="1616" y="6936"/>
                  </a:lnTo>
                  <a:cubicBezTo>
                    <a:pt x="1674" y="6975"/>
                    <a:pt x="1733" y="7002"/>
                    <a:pt x="1792" y="7002"/>
                  </a:cubicBezTo>
                  <a:cubicBezTo>
                    <a:pt x="1828" y="7002"/>
                    <a:pt x="1864" y="6991"/>
                    <a:pt x="1901" y="6967"/>
                  </a:cubicBezTo>
                  <a:lnTo>
                    <a:pt x="2597" y="6524"/>
                  </a:lnTo>
                  <a:lnTo>
                    <a:pt x="2787" y="7316"/>
                  </a:lnTo>
                  <a:cubicBezTo>
                    <a:pt x="2819" y="7442"/>
                    <a:pt x="2914" y="7506"/>
                    <a:pt x="3009" y="7506"/>
                  </a:cubicBezTo>
                  <a:lnTo>
                    <a:pt x="4497" y="7506"/>
                  </a:lnTo>
                  <a:cubicBezTo>
                    <a:pt x="4592" y="7506"/>
                    <a:pt x="4687" y="7442"/>
                    <a:pt x="4719" y="7316"/>
                  </a:cubicBezTo>
                  <a:lnTo>
                    <a:pt x="4909" y="6524"/>
                  </a:lnTo>
                  <a:lnTo>
                    <a:pt x="5606" y="6967"/>
                  </a:lnTo>
                  <a:cubicBezTo>
                    <a:pt x="5642" y="6991"/>
                    <a:pt x="5683" y="7002"/>
                    <a:pt x="5723" y="7002"/>
                  </a:cubicBezTo>
                  <a:cubicBezTo>
                    <a:pt x="5788" y="7002"/>
                    <a:pt x="5852" y="6975"/>
                    <a:pt x="5891" y="6936"/>
                  </a:cubicBezTo>
                  <a:lnTo>
                    <a:pt x="6936" y="5891"/>
                  </a:lnTo>
                  <a:cubicBezTo>
                    <a:pt x="6999" y="5795"/>
                    <a:pt x="7031" y="5669"/>
                    <a:pt x="6968" y="5605"/>
                  </a:cubicBezTo>
                  <a:lnTo>
                    <a:pt x="6524" y="4909"/>
                  </a:lnTo>
                  <a:lnTo>
                    <a:pt x="7316" y="4719"/>
                  </a:lnTo>
                  <a:cubicBezTo>
                    <a:pt x="7443" y="4687"/>
                    <a:pt x="7506" y="4592"/>
                    <a:pt x="7506" y="4497"/>
                  </a:cubicBezTo>
                  <a:lnTo>
                    <a:pt x="7506" y="3009"/>
                  </a:lnTo>
                  <a:cubicBezTo>
                    <a:pt x="7506" y="2914"/>
                    <a:pt x="7443" y="2819"/>
                    <a:pt x="7348" y="2787"/>
                  </a:cubicBezTo>
                  <a:lnTo>
                    <a:pt x="6524" y="2597"/>
                  </a:lnTo>
                  <a:lnTo>
                    <a:pt x="6968" y="1900"/>
                  </a:lnTo>
                  <a:cubicBezTo>
                    <a:pt x="7031" y="1805"/>
                    <a:pt x="6999" y="1710"/>
                    <a:pt x="6936" y="1615"/>
                  </a:cubicBezTo>
                  <a:lnTo>
                    <a:pt x="5891" y="570"/>
                  </a:lnTo>
                  <a:cubicBezTo>
                    <a:pt x="5832" y="531"/>
                    <a:pt x="5773" y="504"/>
                    <a:pt x="5715" y="504"/>
                  </a:cubicBezTo>
                  <a:cubicBezTo>
                    <a:pt x="5678" y="504"/>
                    <a:pt x="5642" y="514"/>
                    <a:pt x="5606" y="538"/>
                  </a:cubicBezTo>
                  <a:lnTo>
                    <a:pt x="4909" y="982"/>
                  </a:lnTo>
                  <a:lnTo>
                    <a:pt x="4719" y="158"/>
                  </a:lnTo>
                  <a:cubicBezTo>
                    <a:pt x="4687" y="63"/>
                    <a:pt x="4592" y="0"/>
                    <a:pt x="44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064475" y="2405000"/>
              <a:ext cx="264475" cy="236750"/>
            </a:xfrm>
            <a:custGeom>
              <a:rect b="b" l="l" r="r" t="t"/>
              <a:pathLst>
                <a:path extrusionOk="0" h="9470" w="10579">
                  <a:moveTo>
                    <a:pt x="3294" y="3959"/>
                  </a:moveTo>
                  <a:cubicBezTo>
                    <a:pt x="3643" y="3959"/>
                    <a:pt x="3928" y="4244"/>
                    <a:pt x="3928" y="4593"/>
                  </a:cubicBezTo>
                  <a:cubicBezTo>
                    <a:pt x="3928" y="4941"/>
                    <a:pt x="3643" y="5226"/>
                    <a:pt x="3294" y="5226"/>
                  </a:cubicBezTo>
                  <a:cubicBezTo>
                    <a:pt x="2946" y="5226"/>
                    <a:pt x="2661" y="4941"/>
                    <a:pt x="2661" y="4593"/>
                  </a:cubicBezTo>
                  <a:cubicBezTo>
                    <a:pt x="2661" y="4244"/>
                    <a:pt x="2946" y="3959"/>
                    <a:pt x="3294" y="3959"/>
                  </a:cubicBezTo>
                  <a:close/>
                  <a:moveTo>
                    <a:pt x="5289" y="3959"/>
                  </a:moveTo>
                  <a:cubicBezTo>
                    <a:pt x="5638" y="3959"/>
                    <a:pt x="5923" y="4244"/>
                    <a:pt x="5923" y="4593"/>
                  </a:cubicBezTo>
                  <a:cubicBezTo>
                    <a:pt x="5923" y="4941"/>
                    <a:pt x="5638" y="5226"/>
                    <a:pt x="5289" y="5226"/>
                  </a:cubicBezTo>
                  <a:cubicBezTo>
                    <a:pt x="4941" y="5226"/>
                    <a:pt x="4656" y="4941"/>
                    <a:pt x="4656" y="4593"/>
                  </a:cubicBezTo>
                  <a:cubicBezTo>
                    <a:pt x="4656" y="4244"/>
                    <a:pt x="4941" y="3959"/>
                    <a:pt x="5289" y="3959"/>
                  </a:cubicBezTo>
                  <a:close/>
                  <a:moveTo>
                    <a:pt x="7221" y="3959"/>
                  </a:moveTo>
                  <a:cubicBezTo>
                    <a:pt x="7570" y="3959"/>
                    <a:pt x="7855" y="4244"/>
                    <a:pt x="7855" y="4593"/>
                  </a:cubicBezTo>
                  <a:cubicBezTo>
                    <a:pt x="7855" y="4941"/>
                    <a:pt x="7570" y="5226"/>
                    <a:pt x="7221" y="5226"/>
                  </a:cubicBezTo>
                  <a:cubicBezTo>
                    <a:pt x="6873" y="5226"/>
                    <a:pt x="6588" y="4941"/>
                    <a:pt x="6588" y="4593"/>
                  </a:cubicBezTo>
                  <a:cubicBezTo>
                    <a:pt x="6588" y="4244"/>
                    <a:pt x="6873" y="3959"/>
                    <a:pt x="7221" y="3959"/>
                  </a:cubicBezTo>
                  <a:close/>
                  <a:moveTo>
                    <a:pt x="5289" y="1"/>
                  </a:moveTo>
                  <a:cubicBezTo>
                    <a:pt x="2376" y="1"/>
                    <a:pt x="1" y="1869"/>
                    <a:pt x="1" y="4181"/>
                  </a:cubicBezTo>
                  <a:cubicBezTo>
                    <a:pt x="1" y="6461"/>
                    <a:pt x="2376" y="8330"/>
                    <a:pt x="5289" y="8330"/>
                  </a:cubicBezTo>
                  <a:cubicBezTo>
                    <a:pt x="5448" y="8330"/>
                    <a:pt x="5606" y="8330"/>
                    <a:pt x="5764" y="8298"/>
                  </a:cubicBezTo>
                  <a:lnTo>
                    <a:pt x="6176" y="9311"/>
                  </a:lnTo>
                  <a:cubicBezTo>
                    <a:pt x="6208" y="9406"/>
                    <a:pt x="6271" y="9438"/>
                    <a:pt x="6366" y="9470"/>
                  </a:cubicBezTo>
                  <a:lnTo>
                    <a:pt x="6398" y="9470"/>
                  </a:lnTo>
                  <a:cubicBezTo>
                    <a:pt x="6461" y="9470"/>
                    <a:pt x="6524" y="9438"/>
                    <a:pt x="6588" y="9375"/>
                  </a:cubicBezTo>
                  <a:lnTo>
                    <a:pt x="8076" y="7696"/>
                  </a:lnTo>
                  <a:cubicBezTo>
                    <a:pt x="9660" y="6936"/>
                    <a:pt x="10578" y="5606"/>
                    <a:pt x="10578" y="4181"/>
                  </a:cubicBezTo>
                  <a:cubicBezTo>
                    <a:pt x="10578" y="1869"/>
                    <a:pt x="8203" y="1"/>
                    <a:pt x="528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534075" y="2825575"/>
              <a:ext cx="495650" cy="505100"/>
            </a:xfrm>
            <a:custGeom>
              <a:rect b="b" l="l" r="r" t="t"/>
              <a:pathLst>
                <a:path extrusionOk="0" h="20204" w="19826">
                  <a:moveTo>
                    <a:pt x="3734" y="1"/>
                  </a:moveTo>
                  <a:cubicBezTo>
                    <a:pt x="3586" y="1"/>
                    <a:pt x="3429" y="28"/>
                    <a:pt x="3262" y="89"/>
                  </a:cubicBezTo>
                  <a:cubicBezTo>
                    <a:pt x="1710" y="691"/>
                    <a:pt x="2566" y="2717"/>
                    <a:pt x="2566" y="2717"/>
                  </a:cubicBezTo>
                  <a:lnTo>
                    <a:pt x="6112" y="12123"/>
                  </a:lnTo>
                  <a:cubicBezTo>
                    <a:pt x="6162" y="12248"/>
                    <a:pt x="6075" y="12333"/>
                    <a:pt x="5989" y="12333"/>
                  </a:cubicBezTo>
                  <a:cubicBezTo>
                    <a:pt x="5966" y="12333"/>
                    <a:pt x="5943" y="12327"/>
                    <a:pt x="5922" y="12313"/>
                  </a:cubicBezTo>
                  <a:lnTo>
                    <a:pt x="4212" y="11300"/>
                  </a:lnTo>
                  <a:cubicBezTo>
                    <a:pt x="4212" y="11300"/>
                    <a:pt x="4212" y="11268"/>
                    <a:pt x="4181" y="11268"/>
                  </a:cubicBezTo>
                  <a:cubicBezTo>
                    <a:pt x="4089" y="11199"/>
                    <a:pt x="3134" y="10383"/>
                    <a:pt x="2181" y="10383"/>
                  </a:cubicBezTo>
                  <a:cubicBezTo>
                    <a:pt x="1818" y="10383"/>
                    <a:pt x="1455" y="10501"/>
                    <a:pt x="1140" y="10825"/>
                  </a:cubicBezTo>
                  <a:cubicBezTo>
                    <a:pt x="0" y="12028"/>
                    <a:pt x="1235" y="13327"/>
                    <a:pt x="1330" y="13422"/>
                  </a:cubicBezTo>
                  <a:cubicBezTo>
                    <a:pt x="1362" y="13422"/>
                    <a:pt x="1362" y="13422"/>
                    <a:pt x="1362" y="13453"/>
                  </a:cubicBezTo>
                  <a:lnTo>
                    <a:pt x="9786" y="19565"/>
                  </a:lnTo>
                  <a:cubicBezTo>
                    <a:pt x="9818" y="19597"/>
                    <a:pt x="9818" y="19597"/>
                    <a:pt x="9849" y="19629"/>
                  </a:cubicBezTo>
                  <a:lnTo>
                    <a:pt x="9976" y="19914"/>
                  </a:lnTo>
                  <a:cubicBezTo>
                    <a:pt x="10070" y="20102"/>
                    <a:pt x="10253" y="20203"/>
                    <a:pt x="10431" y="20203"/>
                  </a:cubicBezTo>
                  <a:cubicBezTo>
                    <a:pt x="10492" y="20203"/>
                    <a:pt x="10553" y="20191"/>
                    <a:pt x="10609" y="20167"/>
                  </a:cubicBezTo>
                  <a:lnTo>
                    <a:pt x="18115" y="17158"/>
                  </a:lnTo>
                  <a:cubicBezTo>
                    <a:pt x="18368" y="17032"/>
                    <a:pt x="18495" y="16778"/>
                    <a:pt x="18400" y="16525"/>
                  </a:cubicBezTo>
                  <a:lnTo>
                    <a:pt x="18305" y="16240"/>
                  </a:lnTo>
                  <a:cubicBezTo>
                    <a:pt x="18273" y="16177"/>
                    <a:pt x="18273" y="16113"/>
                    <a:pt x="18305" y="16082"/>
                  </a:cubicBezTo>
                  <a:cubicBezTo>
                    <a:pt x="19825" y="14118"/>
                    <a:pt x="18812" y="11490"/>
                    <a:pt x="18812" y="11490"/>
                  </a:cubicBezTo>
                  <a:lnTo>
                    <a:pt x="17292" y="7626"/>
                  </a:lnTo>
                  <a:cubicBezTo>
                    <a:pt x="17292" y="7626"/>
                    <a:pt x="17292" y="7626"/>
                    <a:pt x="17292" y="7594"/>
                  </a:cubicBezTo>
                  <a:cubicBezTo>
                    <a:pt x="17260" y="7468"/>
                    <a:pt x="16817" y="5631"/>
                    <a:pt x="15455" y="5631"/>
                  </a:cubicBezTo>
                  <a:cubicBezTo>
                    <a:pt x="14663" y="5631"/>
                    <a:pt x="14220" y="5979"/>
                    <a:pt x="13998" y="6296"/>
                  </a:cubicBezTo>
                  <a:cubicBezTo>
                    <a:pt x="13973" y="6333"/>
                    <a:pt x="13933" y="6351"/>
                    <a:pt x="13892" y="6351"/>
                  </a:cubicBezTo>
                  <a:cubicBezTo>
                    <a:pt x="13830" y="6351"/>
                    <a:pt x="13764" y="6309"/>
                    <a:pt x="13745" y="6233"/>
                  </a:cubicBezTo>
                  <a:cubicBezTo>
                    <a:pt x="13650" y="5853"/>
                    <a:pt x="13333" y="5346"/>
                    <a:pt x="12383" y="5251"/>
                  </a:cubicBezTo>
                  <a:cubicBezTo>
                    <a:pt x="12284" y="5239"/>
                    <a:pt x="12190" y="5234"/>
                    <a:pt x="12101" y="5234"/>
                  </a:cubicBezTo>
                  <a:cubicBezTo>
                    <a:pt x="11227" y="5234"/>
                    <a:pt x="10848" y="5764"/>
                    <a:pt x="10704" y="6138"/>
                  </a:cubicBezTo>
                  <a:cubicBezTo>
                    <a:pt x="10688" y="6206"/>
                    <a:pt x="10634" y="6237"/>
                    <a:pt x="10579" y="6237"/>
                  </a:cubicBezTo>
                  <a:cubicBezTo>
                    <a:pt x="10530" y="6237"/>
                    <a:pt x="10481" y="6213"/>
                    <a:pt x="10451" y="6169"/>
                  </a:cubicBezTo>
                  <a:cubicBezTo>
                    <a:pt x="10155" y="5551"/>
                    <a:pt x="9586" y="4865"/>
                    <a:pt x="8840" y="4865"/>
                  </a:cubicBezTo>
                  <a:cubicBezTo>
                    <a:pt x="8707" y="4865"/>
                    <a:pt x="8568" y="4886"/>
                    <a:pt x="8424" y="4934"/>
                  </a:cubicBezTo>
                  <a:cubicBezTo>
                    <a:pt x="7791" y="5124"/>
                    <a:pt x="7506" y="5536"/>
                    <a:pt x="7379" y="5853"/>
                  </a:cubicBezTo>
                  <a:cubicBezTo>
                    <a:pt x="7348" y="5916"/>
                    <a:pt x="7292" y="5948"/>
                    <a:pt x="7237" y="5948"/>
                  </a:cubicBezTo>
                  <a:cubicBezTo>
                    <a:pt x="7181" y="5948"/>
                    <a:pt x="7126" y="5916"/>
                    <a:pt x="7094" y="5853"/>
                  </a:cubicBezTo>
                  <a:lnTo>
                    <a:pt x="5574" y="1894"/>
                  </a:lnTo>
                  <a:cubicBezTo>
                    <a:pt x="5574" y="1894"/>
                    <a:pt x="4968" y="1"/>
                    <a:pt x="37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3784250" y="3264025"/>
              <a:ext cx="281100" cy="204375"/>
            </a:xfrm>
            <a:custGeom>
              <a:rect b="b" l="l" r="r" t="t"/>
              <a:pathLst>
                <a:path extrusionOk="0" h="8175" w="11244">
                  <a:moveTo>
                    <a:pt x="8904" y="1"/>
                  </a:moveTo>
                  <a:cubicBezTo>
                    <a:pt x="8840" y="1"/>
                    <a:pt x="8774" y="11"/>
                    <a:pt x="8710" y="32"/>
                  </a:cubicBezTo>
                  <a:lnTo>
                    <a:pt x="412" y="3389"/>
                  </a:lnTo>
                  <a:cubicBezTo>
                    <a:pt x="127" y="3484"/>
                    <a:pt x="1" y="3832"/>
                    <a:pt x="127" y="4117"/>
                  </a:cubicBezTo>
                  <a:lnTo>
                    <a:pt x="1838" y="7854"/>
                  </a:lnTo>
                  <a:cubicBezTo>
                    <a:pt x="1933" y="8068"/>
                    <a:pt x="2134" y="8175"/>
                    <a:pt x="2350" y="8175"/>
                  </a:cubicBezTo>
                  <a:cubicBezTo>
                    <a:pt x="2421" y="8175"/>
                    <a:pt x="2495" y="8163"/>
                    <a:pt x="2566" y="8139"/>
                  </a:cubicBezTo>
                  <a:lnTo>
                    <a:pt x="10800" y="4877"/>
                  </a:lnTo>
                  <a:cubicBezTo>
                    <a:pt x="11117" y="4782"/>
                    <a:pt x="11243" y="4434"/>
                    <a:pt x="11117" y="4149"/>
                  </a:cubicBezTo>
                  <a:lnTo>
                    <a:pt x="9406" y="317"/>
                  </a:lnTo>
                  <a:cubicBezTo>
                    <a:pt x="9333" y="121"/>
                    <a:pt x="9126" y="1"/>
                    <a:pt x="890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3522200" y="2642100"/>
              <a:ext cx="81575" cy="116825"/>
            </a:xfrm>
            <a:custGeom>
              <a:rect b="b" l="l" r="r" t="t"/>
              <a:pathLst>
                <a:path extrusionOk="0" h="4673" w="3263">
                  <a:moveTo>
                    <a:pt x="1142" y="0"/>
                  </a:moveTo>
                  <a:cubicBezTo>
                    <a:pt x="1015" y="0"/>
                    <a:pt x="886" y="26"/>
                    <a:pt x="760" y="81"/>
                  </a:cubicBezTo>
                  <a:cubicBezTo>
                    <a:pt x="254" y="271"/>
                    <a:pt x="0" y="841"/>
                    <a:pt x="190" y="1347"/>
                  </a:cubicBezTo>
                  <a:lnTo>
                    <a:pt x="1235" y="4039"/>
                  </a:lnTo>
                  <a:cubicBezTo>
                    <a:pt x="1394" y="4419"/>
                    <a:pt x="1742" y="4673"/>
                    <a:pt x="2154" y="4673"/>
                  </a:cubicBezTo>
                  <a:cubicBezTo>
                    <a:pt x="2280" y="4673"/>
                    <a:pt x="2375" y="4641"/>
                    <a:pt x="2502" y="4609"/>
                  </a:cubicBezTo>
                  <a:cubicBezTo>
                    <a:pt x="3009" y="4388"/>
                    <a:pt x="3262" y="3818"/>
                    <a:pt x="3072" y="3311"/>
                  </a:cubicBezTo>
                  <a:lnTo>
                    <a:pt x="2027" y="619"/>
                  </a:lnTo>
                  <a:cubicBezTo>
                    <a:pt x="1884" y="238"/>
                    <a:pt x="1526" y="0"/>
                    <a:pt x="11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3422425" y="2736975"/>
              <a:ext cx="122750" cy="78175"/>
            </a:xfrm>
            <a:custGeom>
              <a:rect b="b" l="l" r="r" t="t"/>
              <a:pathLst>
                <a:path extrusionOk="0" h="3127" w="4910">
                  <a:moveTo>
                    <a:pt x="1143" y="0"/>
                  </a:moveTo>
                  <a:cubicBezTo>
                    <a:pt x="757" y="0"/>
                    <a:pt x="386" y="219"/>
                    <a:pt x="223" y="593"/>
                  </a:cubicBezTo>
                  <a:cubicBezTo>
                    <a:pt x="1" y="1068"/>
                    <a:pt x="254" y="1669"/>
                    <a:pt x="729" y="1891"/>
                  </a:cubicBezTo>
                  <a:lnTo>
                    <a:pt x="3358" y="3063"/>
                  </a:lnTo>
                  <a:cubicBezTo>
                    <a:pt x="3485" y="3126"/>
                    <a:pt x="3643" y="3126"/>
                    <a:pt x="3770" y="3126"/>
                  </a:cubicBezTo>
                  <a:cubicBezTo>
                    <a:pt x="4150" y="3126"/>
                    <a:pt x="4498" y="2905"/>
                    <a:pt x="4688" y="2556"/>
                  </a:cubicBezTo>
                  <a:cubicBezTo>
                    <a:pt x="4910" y="2049"/>
                    <a:pt x="4656" y="1448"/>
                    <a:pt x="4181" y="1226"/>
                  </a:cubicBezTo>
                  <a:lnTo>
                    <a:pt x="1553" y="86"/>
                  </a:lnTo>
                  <a:cubicBezTo>
                    <a:pt x="1420" y="28"/>
                    <a:pt x="1280" y="0"/>
                    <a:pt x="11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3684500" y="2852550"/>
              <a:ext cx="122750" cy="78975"/>
            </a:xfrm>
            <a:custGeom>
              <a:rect b="b" l="l" r="r" t="t"/>
              <a:pathLst>
                <a:path extrusionOk="0" h="3159" w="4910">
                  <a:moveTo>
                    <a:pt x="1143" y="1"/>
                  </a:moveTo>
                  <a:cubicBezTo>
                    <a:pt x="756" y="1"/>
                    <a:pt x="386" y="220"/>
                    <a:pt x="222" y="593"/>
                  </a:cubicBezTo>
                  <a:cubicBezTo>
                    <a:pt x="0" y="1068"/>
                    <a:pt x="254" y="1670"/>
                    <a:pt x="729" y="1892"/>
                  </a:cubicBezTo>
                  <a:lnTo>
                    <a:pt x="3357" y="3064"/>
                  </a:lnTo>
                  <a:cubicBezTo>
                    <a:pt x="3484" y="3127"/>
                    <a:pt x="3642" y="3159"/>
                    <a:pt x="3769" y="3159"/>
                  </a:cubicBezTo>
                  <a:cubicBezTo>
                    <a:pt x="4149" y="3159"/>
                    <a:pt x="4497" y="2937"/>
                    <a:pt x="4687" y="2557"/>
                  </a:cubicBezTo>
                  <a:cubicBezTo>
                    <a:pt x="4909" y="2050"/>
                    <a:pt x="4656" y="1480"/>
                    <a:pt x="4181" y="1258"/>
                  </a:cubicBezTo>
                  <a:lnTo>
                    <a:pt x="1552" y="87"/>
                  </a:lnTo>
                  <a:cubicBezTo>
                    <a:pt x="1419" y="29"/>
                    <a:pt x="1280" y="1"/>
                    <a:pt x="11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3420050" y="2847950"/>
              <a:ext cx="122750" cy="75650"/>
            </a:xfrm>
            <a:custGeom>
              <a:rect b="b" l="l" r="r" t="t"/>
              <a:pathLst>
                <a:path extrusionOk="0" h="3026" w="4910">
                  <a:moveTo>
                    <a:pt x="3817" y="0"/>
                  </a:moveTo>
                  <a:cubicBezTo>
                    <a:pt x="3687" y="0"/>
                    <a:pt x="3553" y="26"/>
                    <a:pt x="3421" y="81"/>
                  </a:cubicBezTo>
                  <a:lnTo>
                    <a:pt x="761" y="1094"/>
                  </a:lnTo>
                  <a:cubicBezTo>
                    <a:pt x="254" y="1316"/>
                    <a:pt x="1" y="1886"/>
                    <a:pt x="191" y="2392"/>
                  </a:cubicBezTo>
                  <a:cubicBezTo>
                    <a:pt x="349" y="2773"/>
                    <a:pt x="698" y="3026"/>
                    <a:pt x="1109" y="3026"/>
                  </a:cubicBezTo>
                  <a:cubicBezTo>
                    <a:pt x="1236" y="3026"/>
                    <a:pt x="1331" y="2994"/>
                    <a:pt x="1458" y="2963"/>
                  </a:cubicBezTo>
                  <a:lnTo>
                    <a:pt x="4150" y="1917"/>
                  </a:lnTo>
                  <a:cubicBezTo>
                    <a:pt x="4656" y="1727"/>
                    <a:pt x="4910" y="1157"/>
                    <a:pt x="4720" y="651"/>
                  </a:cubicBezTo>
                  <a:cubicBezTo>
                    <a:pt x="4576" y="244"/>
                    <a:pt x="4216" y="0"/>
                    <a:pt x="38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3686875" y="2744650"/>
              <a:ext cx="122750" cy="75250"/>
            </a:xfrm>
            <a:custGeom>
              <a:rect b="b" l="l" r="r" t="t"/>
              <a:pathLst>
                <a:path extrusionOk="0" h="3010" w="4910">
                  <a:moveTo>
                    <a:pt x="3799" y="1"/>
                  </a:moveTo>
                  <a:cubicBezTo>
                    <a:pt x="3684" y="1"/>
                    <a:pt x="3566" y="21"/>
                    <a:pt x="3452" y="64"/>
                  </a:cubicBezTo>
                  <a:lnTo>
                    <a:pt x="761" y="1109"/>
                  </a:lnTo>
                  <a:cubicBezTo>
                    <a:pt x="254" y="1299"/>
                    <a:pt x="0" y="1869"/>
                    <a:pt x="190" y="2376"/>
                  </a:cubicBezTo>
                  <a:cubicBezTo>
                    <a:pt x="349" y="2756"/>
                    <a:pt x="729" y="3009"/>
                    <a:pt x="1109" y="3009"/>
                  </a:cubicBezTo>
                  <a:cubicBezTo>
                    <a:pt x="1236" y="3009"/>
                    <a:pt x="1362" y="2978"/>
                    <a:pt x="1457" y="2946"/>
                  </a:cubicBezTo>
                  <a:lnTo>
                    <a:pt x="4149" y="1901"/>
                  </a:lnTo>
                  <a:cubicBezTo>
                    <a:pt x="4656" y="1711"/>
                    <a:pt x="4909" y="1141"/>
                    <a:pt x="4719" y="634"/>
                  </a:cubicBezTo>
                  <a:cubicBezTo>
                    <a:pt x="4572" y="241"/>
                    <a:pt x="4197" y="1"/>
                    <a:pt x="37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514275" y="2907200"/>
              <a:ext cx="85525" cy="115375"/>
            </a:xfrm>
            <a:custGeom>
              <a:rect b="b" l="l" r="r" t="t"/>
              <a:pathLst>
                <a:path extrusionOk="0" h="4615" w="3421">
                  <a:moveTo>
                    <a:pt x="2288" y="0"/>
                  </a:moveTo>
                  <a:cubicBezTo>
                    <a:pt x="1911" y="0"/>
                    <a:pt x="1558" y="219"/>
                    <a:pt x="1394" y="593"/>
                  </a:cubicBezTo>
                  <a:lnTo>
                    <a:pt x="222" y="3221"/>
                  </a:lnTo>
                  <a:cubicBezTo>
                    <a:pt x="1" y="3728"/>
                    <a:pt x="222" y="4298"/>
                    <a:pt x="729" y="4519"/>
                  </a:cubicBezTo>
                  <a:cubicBezTo>
                    <a:pt x="856" y="4583"/>
                    <a:pt x="982" y="4614"/>
                    <a:pt x="1109" y="4614"/>
                  </a:cubicBezTo>
                  <a:cubicBezTo>
                    <a:pt x="1489" y="4614"/>
                    <a:pt x="1869" y="4393"/>
                    <a:pt x="2027" y="4013"/>
                  </a:cubicBezTo>
                  <a:lnTo>
                    <a:pt x="3199" y="1384"/>
                  </a:lnTo>
                  <a:cubicBezTo>
                    <a:pt x="3421" y="909"/>
                    <a:pt x="3199" y="307"/>
                    <a:pt x="2692" y="86"/>
                  </a:cubicBezTo>
                  <a:cubicBezTo>
                    <a:pt x="2560" y="28"/>
                    <a:pt x="2422" y="0"/>
                    <a:pt x="22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3629875" y="2645125"/>
              <a:ext cx="85525" cy="115400"/>
            </a:xfrm>
            <a:custGeom>
              <a:rect b="b" l="l" r="r" t="t"/>
              <a:pathLst>
                <a:path extrusionOk="0" h="4616" w="3421">
                  <a:moveTo>
                    <a:pt x="2288" y="1"/>
                  </a:moveTo>
                  <a:cubicBezTo>
                    <a:pt x="1910" y="1"/>
                    <a:pt x="1557" y="219"/>
                    <a:pt x="1394" y="593"/>
                  </a:cubicBezTo>
                  <a:lnTo>
                    <a:pt x="222" y="3222"/>
                  </a:lnTo>
                  <a:cubicBezTo>
                    <a:pt x="0" y="3728"/>
                    <a:pt x="222" y="4298"/>
                    <a:pt x="729" y="4520"/>
                  </a:cubicBezTo>
                  <a:cubicBezTo>
                    <a:pt x="855" y="4583"/>
                    <a:pt x="982" y="4615"/>
                    <a:pt x="1140" y="4615"/>
                  </a:cubicBezTo>
                  <a:cubicBezTo>
                    <a:pt x="1520" y="4615"/>
                    <a:pt x="1869" y="4393"/>
                    <a:pt x="2027" y="4013"/>
                  </a:cubicBezTo>
                  <a:lnTo>
                    <a:pt x="3199" y="1385"/>
                  </a:lnTo>
                  <a:cubicBezTo>
                    <a:pt x="3421" y="910"/>
                    <a:pt x="3199" y="308"/>
                    <a:pt x="2692" y="86"/>
                  </a:cubicBezTo>
                  <a:cubicBezTo>
                    <a:pt x="2559" y="28"/>
                    <a:pt x="2422" y="1"/>
                    <a:pt x="22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718500" y="3382775"/>
              <a:ext cx="175775" cy="308800"/>
            </a:xfrm>
            <a:custGeom>
              <a:rect b="b" l="l" r="r" t="t"/>
              <a:pathLst>
                <a:path extrusionOk="0" h="12352" w="7031">
                  <a:moveTo>
                    <a:pt x="5574" y="1173"/>
                  </a:moveTo>
                  <a:cubicBezTo>
                    <a:pt x="5827" y="1173"/>
                    <a:pt x="6081" y="1426"/>
                    <a:pt x="6081" y="1679"/>
                  </a:cubicBezTo>
                  <a:lnTo>
                    <a:pt x="6081" y="9596"/>
                  </a:lnTo>
                  <a:cubicBezTo>
                    <a:pt x="6081" y="9882"/>
                    <a:pt x="5827" y="10103"/>
                    <a:pt x="5574" y="10103"/>
                  </a:cubicBezTo>
                  <a:lnTo>
                    <a:pt x="1457" y="10103"/>
                  </a:lnTo>
                  <a:cubicBezTo>
                    <a:pt x="1172" y="10103"/>
                    <a:pt x="950" y="9882"/>
                    <a:pt x="950" y="9596"/>
                  </a:cubicBezTo>
                  <a:lnTo>
                    <a:pt x="950" y="1679"/>
                  </a:lnTo>
                  <a:cubicBezTo>
                    <a:pt x="950" y="1426"/>
                    <a:pt x="1172" y="1173"/>
                    <a:pt x="1457" y="1173"/>
                  </a:cubicBezTo>
                  <a:close/>
                  <a:moveTo>
                    <a:pt x="3896" y="10800"/>
                  </a:moveTo>
                  <a:cubicBezTo>
                    <a:pt x="4054" y="10800"/>
                    <a:pt x="4149" y="10927"/>
                    <a:pt x="4149" y="11053"/>
                  </a:cubicBezTo>
                  <a:lnTo>
                    <a:pt x="4149" y="11497"/>
                  </a:lnTo>
                  <a:cubicBezTo>
                    <a:pt x="4149" y="11623"/>
                    <a:pt x="4054" y="11750"/>
                    <a:pt x="3896" y="11750"/>
                  </a:cubicBezTo>
                  <a:lnTo>
                    <a:pt x="3136" y="11750"/>
                  </a:lnTo>
                  <a:cubicBezTo>
                    <a:pt x="2977" y="11750"/>
                    <a:pt x="2882" y="11655"/>
                    <a:pt x="2882" y="11497"/>
                  </a:cubicBezTo>
                  <a:lnTo>
                    <a:pt x="2882" y="11053"/>
                  </a:lnTo>
                  <a:cubicBezTo>
                    <a:pt x="2882" y="10927"/>
                    <a:pt x="2977" y="10800"/>
                    <a:pt x="3136" y="10800"/>
                  </a:cubicBezTo>
                  <a:close/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1307"/>
                  </a:lnTo>
                  <a:cubicBezTo>
                    <a:pt x="0" y="11877"/>
                    <a:pt x="475" y="12352"/>
                    <a:pt x="1045" y="12352"/>
                  </a:cubicBezTo>
                  <a:lnTo>
                    <a:pt x="5986" y="12352"/>
                  </a:lnTo>
                  <a:cubicBezTo>
                    <a:pt x="6556" y="12352"/>
                    <a:pt x="7031" y="11877"/>
                    <a:pt x="7031" y="11307"/>
                  </a:cubicBezTo>
                  <a:lnTo>
                    <a:pt x="7031" y="1046"/>
                  </a:lnTo>
                  <a:cubicBezTo>
                    <a:pt x="7031" y="476"/>
                    <a:pt x="6556" y="1"/>
                    <a:pt x="59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2282350" y="2522175"/>
              <a:ext cx="314350" cy="217750"/>
            </a:xfrm>
            <a:custGeom>
              <a:rect b="b" l="l" r="r" t="t"/>
              <a:pathLst>
                <a:path extrusionOk="0" h="8710" w="12574">
                  <a:moveTo>
                    <a:pt x="6493" y="1"/>
                  </a:moveTo>
                  <a:cubicBezTo>
                    <a:pt x="5163" y="1"/>
                    <a:pt x="3959" y="887"/>
                    <a:pt x="3547" y="2154"/>
                  </a:cubicBezTo>
                  <a:lnTo>
                    <a:pt x="3294" y="2154"/>
                  </a:lnTo>
                  <a:cubicBezTo>
                    <a:pt x="1457" y="2154"/>
                    <a:pt x="1" y="3611"/>
                    <a:pt x="1" y="5416"/>
                  </a:cubicBezTo>
                  <a:cubicBezTo>
                    <a:pt x="1" y="7221"/>
                    <a:pt x="1457" y="8710"/>
                    <a:pt x="3294" y="8710"/>
                  </a:cubicBezTo>
                  <a:lnTo>
                    <a:pt x="9913" y="8710"/>
                  </a:lnTo>
                  <a:cubicBezTo>
                    <a:pt x="11370" y="8710"/>
                    <a:pt x="12573" y="7506"/>
                    <a:pt x="12573" y="6049"/>
                  </a:cubicBezTo>
                  <a:cubicBezTo>
                    <a:pt x="12573" y="4561"/>
                    <a:pt x="11370" y="3389"/>
                    <a:pt x="9913" y="3389"/>
                  </a:cubicBezTo>
                  <a:lnTo>
                    <a:pt x="9565" y="3389"/>
                  </a:lnTo>
                  <a:cubicBezTo>
                    <a:pt x="9596" y="3294"/>
                    <a:pt x="9596" y="3199"/>
                    <a:pt x="9596" y="3104"/>
                  </a:cubicBezTo>
                  <a:cubicBezTo>
                    <a:pt x="9596" y="1394"/>
                    <a:pt x="8203" y="1"/>
                    <a:pt x="64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Problem Statement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57200" y="892675"/>
            <a:ext cx="8229600" cy="4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Autonomous rover navigating a </a:t>
            </a:r>
            <a:r>
              <a:rPr b="1" lang="en" sz="1800">
                <a:solidFill>
                  <a:schemeClr val="dk1"/>
                </a:solidFill>
              </a:rPr>
              <a:t>simulated planetary grid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Limited </a:t>
            </a:r>
            <a:r>
              <a:rPr b="1" lang="en" sz="1800">
                <a:solidFill>
                  <a:schemeClr val="dk1"/>
                </a:solidFill>
              </a:rPr>
              <a:t>energy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b="1" lang="en" sz="1800">
                <a:solidFill>
                  <a:schemeClr val="dk1"/>
                </a:solidFill>
              </a:rPr>
              <a:t>time constraints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</a:rPr>
              <a:t>Must:</a:t>
            </a:r>
            <a:endParaRPr sz="18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Avoid obstacles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Collect resources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 charging station</a:t>
            </a:r>
            <a:r>
              <a:rPr lang="en" sz="1800">
                <a:solidFill>
                  <a:schemeClr val="dk1"/>
                </a:solidFill>
              </a:rPr>
              <a:t>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Key Challenge</a:t>
            </a:r>
            <a:endParaRPr b="1" sz="18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| </a:t>
            </a:r>
            <a:r>
              <a:rPr lang="en" sz="1800">
                <a:solidFill>
                  <a:schemeClr val="dk1"/>
                </a:solidFill>
              </a:rPr>
              <a:t>How should the rover decide its actions efficiently under constraints?</a:t>
            </a:r>
            <a:endParaRPr sz="18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Core Question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      </a:t>
            </a:r>
            <a:r>
              <a:rPr lang="en" sz="1800">
                <a:solidFill>
                  <a:schemeClr val="accent1"/>
                </a:solidFill>
              </a:rPr>
              <a:t>| </a:t>
            </a:r>
            <a:r>
              <a:rPr b="1" lang="en" sz="1800">
                <a:solidFill>
                  <a:schemeClr val="accent1"/>
                </a:solidFill>
              </a:rPr>
              <a:t>Should the rover prioritize efficiency or resource collection?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191000" y="1691100"/>
            <a:ext cx="48465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Autonomous navigation is critical in: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Space exploration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Robotics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AI decision-making systems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Traditional approaches: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Rule-based → fixed, limited adaptability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Reinforcement Learning → learns from interaction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037500" y="800100"/>
            <a:ext cx="38202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DQN</a:t>
            </a:r>
            <a:r>
              <a:rPr lang="en" sz="1800">
                <a:solidFill>
                  <a:schemeClr val="dk1"/>
                </a:solidFill>
              </a:rPr>
              <a:t> → Best overall performance (generalization)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MD-DQN</a:t>
            </a:r>
            <a:r>
              <a:rPr lang="en" sz="1800">
                <a:solidFill>
                  <a:schemeClr val="dk1"/>
                </a:solidFill>
              </a:rPr>
              <a:t> → Faster initial learning (transfer)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Q-Learning</a:t>
            </a:r>
            <a:r>
              <a:rPr lang="en" sz="1800">
                <a:solidFill>
                  <a:schemeClr val="dk1"/>
                </a:solidFill>
              </a:rPr>
              <a:t> → Less stable (limited representation)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Rule-Based</a:t>
            </a:r>
            <a:r>
              <a:rPr lang="en" sz="1800">
                <a:solidFill>
                  <a:schemeClr val="dk1"/>
                </a:solidFill>
              </a:rPr>
              <a:t> → Safe but inefficient (no learning)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0" y="190850"/>
            <a:ext cx="3557276" cy="1179295"/>
          </a:xfrm>
          <a:custGeom>
            <a:rect b="b" l="l" r="r" t="t"/>
            <a:pathLst>
              <a:path extrusionOk="0" h="37149" w="46269">
                <a:moveTo>
                  <a:pt x="46269" y="1"/>
                </a:moveTo>
                <a:cubicBezTo>
                  <a:pt x="26824" y="919"/>
                  <a:pt x="9881" y="11338"/>
                  <a:pt x="0" y="26697"/>
                </a:cubicBezTo>
                <a:lnTo>
                  <a:pt x="18051" y="37148"/>
                </a:lnTo>
                <a:cubicBezTo>
                  <a:pt x="19983" y="34361"/>
                  <a:pt x="22232" y="31828"/>
                  <a:pt x="24829" y="29643"/>
                </a:cubicBezTo>
                <a:lnTo>
                  <a:pt x="26317" y="28376"/>
                </a:lnTo>
                <a:lnTo>
                  <a:pt x="34519" y="33126"/>
                </a:lnTo>
                <a:lnTo>
                  <a:pt x="34519" y="23626"/>
                </a:lnTo>
                <a:lnTo>
                  <a:pt x="36356" y="22960"/>
                </a:lnTo>
                <a:cubicBezTo>
                  <a:pt x="38985" y="22010"/>
                  <a:pt x="41708" y="21377"/>
                  <a:pt x="44463" y="21029"/>
                </a:cubicBezTo>
                <a:cubicBezTo>
                  <a:pt x="45065" y="20965"/>
                  <a:pt x="45667" y="20902"/>
                  <a:pt x="46269" y="20870"/>
                </a:cubicBezTo>
                <a:lnTo>
                  <a:pt x="46269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Background</a:t>
            </a:r>
            <a:endParaRPr sz="2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471676" y="3754925"/>
            <a:ext cx="3672334" cy="1178279"/>
          </a:xfrm>
          <a:custGeom>
            <a:rect b="b" l="l" r="r" t="t"/>
            <a:pathLst>
              <a:path extrusionOk="0" h="37117" w="46270">
                <a:moveTo>
                  <a:pt x="28186" y="0"/>
                </a:moveTo>
                <a:cubicBezTo>
                  <a:pt x="26286" y="2787"/>
                  <a:pt x="24006" y="5289"/>
                  <a:pt x="21441" y="7506"/>
                </a:cubicBezTo>
                <a:lnTo>
                  <a:pt x="19921" y="8772"/>
                </a:lnTo>
                <a:lnTo>
                  <a:pt x="11718" y="4022"/>
                </a:lnTo>
                <a:lnTo>
                  <a:pt x="11718" y="13523"/>
                </a:lnTo>
                <a:lnTo>
                  <a:pt x="9881" y="14156"/>
                </a:lnTo>
                <a:cubicBezTo>
                  <a:pt x="7253" y="15106"/>
                  <a:pt x="4529" y="15771"/>
                  <a:pt x="1774" y="16088"/>
                </a:cubicBezTo>
                <a:cubicBezTo>
                  <a:pt x="1172" y="16183"/>
                  <a:pt x="602" y="16215"/>
                  <a:pt x="1" y="16278"/>
                </a:cubicBezTo>
                <a:lnTo>
                  <a:pt x="1" y="37116"/>
                </a:lnTo>
                <a:cubicBezTo>
                  <a:pt x="19414" y="36229"/>
                  <a:pt x="36357" y="25810"/>
                  <a:pt x="46269" y="10419"/>
                </a:cubicBezTo>
                <a:lnTo>
                  <a:pt x="28186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Hypothesis</a:t>
            </a:r>
            <a:endParaRPr sz="27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ENVIRONMENT 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50650" y="892675"/>
            <a:ext cx="46674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Simulated Dataset (Environment)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Grid-based map (e.g., 8×8)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State Space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Position: (x, y)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Energy level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Action Space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Up • Down • Left • Right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Reward Design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+10 → Resource collected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-0.1 → Step cost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-5 → Collision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+5 → Recharge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753700" y="2480700"/>
            <a:ext cx="339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7" name="Google Shape;117;p17" title="ChatGPT Image Apr 21, 2026, 11_18_34 AM.png"/>
          <p:cNvPicPr preferRelativeResize="0"/>
          <p:nvPr/>
        </p:nvPicPr>
        <p:blipFill rotWithShape="1">
          <a:blip r:embed="rId3">
            <a:alphaModFix/>
          </a:blip>
          <a:srcRect b="16634" l="0" r="0" t="13738"/>
          <a:stretch/>
        </p:blipFill>
        <p:spPr>
          <a:xfrm>
            <a:off x="3124000" y="1026125"/>
            <a:ext cx="5562800" cy="384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6978575" y="1026125"/>
            <a:ext cx="18276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Components: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Objective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920500" y="1480225"/>
            <a:ext cx="75204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| </a:t>
            </a:r>
            <a:r>
              <a:rPr lang="en" sz="1800">
                <a:solidFill>
                  <a:schemeClr val="dk1"/>
                </a:solidFill>
              </a:rPr>
              <a:t>Maximize total reward while navigating efficiently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Balancing: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Resource collection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Energy consumption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Safety (avoid collisions)</a:t>
            </a:r>
            <a:endParaRPr sz="1800">
              <a:solidFill>
                <a:schemeClr val="dk1"/>
              </a:solidFill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Modeling Approaches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{FC07DE5B-5D63-444F-9CD2-8C92953F459E}</a:tableStyleId>
              </a:tblPr>
              <a:tblGrid>
                <a:gridCol w="2102625"/>
                <a:gridCol w="1935500"/>
                <a:gridCol w="3200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Model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Type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Key Idea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Rule-Based</a:t>
                      </a:r>
                      <a:endParaRPr b="1" sz="18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Baseline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Fixed decision rules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Q-Learning</a:t>
                      </a:r>
                      <a:endParaRPr b="1" sz="18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RL (Tabular)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Learns from experience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DQN</a:t>
                      </a:r>
                      <a:endParaRPr b="1" sz="18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Deep RL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Neural network approximation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MD-DQN</a:t>
                      </a:r>
                      <a:endParaRPr b="1" sz="18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Transfer RL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Uses pretrained knowledge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Rule-Based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147184" y="1044138"/>
            <a:ext cx="85470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predefined decision rules</a:t>
            </a:r>
            <a:r>
              <a:rPr lang="en" sz="1100">
                <a:solidFill>
                  <a:schemeClr val="dk1"/>
                </a:solidFill>
              </a:rPr>
              <a:t> (no learning)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Observes current state: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Position, energy, nearby cells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Applies simple logic: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Low energy → move to charger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Resource nearby → move toward resource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Otherwise → explore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Characteristics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Deterministic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Fast and simple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adaptation over time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Limitation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Performance depends on rule design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Cannot improve with experience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May be inefficient in complex environments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7" name="Google Shape;137;p20" title="Blank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0200" y="1472200"/>
            <a:ext cx="5658299" cy="258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3643675" y="2595725"/>
            <a:ext cx="71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(repeat)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Q-Learning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139800" y="1002725"/>
            <a:ext cx="44565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Q-Learning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Reinforcement learning algorithm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Learns action values through interaction with the environment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Stores knowledge in a </a:t>
            </a:r>
            <a:r>
              <a:rPr b="1" lang="en" sz="1100">
                <a:solidFill>
                  <a:schemeClr val="dk1"/>
                </a:solidFill>
              </a:rPr>
              <a:t>Q-table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Q(s,a)←Q(s,a)+α[r+γmaxa′​Q(s′,a′)−Q(s,a)]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Policy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ε-greedy strategy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Explore → random action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Exploit → best-known 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Hyperparameters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α → Learning rate = 0.1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γ → Discount factor = 0.9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ε → Exploration rate = 1.0 → 0.1 (decay = 0.99)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4941000" y="1002725"/>
            <a:ext cx="420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Key Idea</a:t>
            </a:r>
            <a:endParaRPr b="1" sz="17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Learns optimal policy through trial and error</a:t>
            </a:r>
            <a:endParaRPr sz="11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Limitation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Works well for small state spaces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Poor scalability in larger environments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be unstable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 title="Blank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825" y="152400"/>
            <a:ext cx="745786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1995700" y="1572375"/>
            <a:ext cx="71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(repeat)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3115663" y="2331150"/>
            <a:ext cx="26502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Q-Learning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DQN (Deep Q-Network)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139800" y="1002725"/>
            <a:ext cx="4456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Deep Q-Network (DQN)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Extension of Q-learning using </a:t>
            </a:r>
            <a:r>
              <a:rPr b="1" lang="en" sz="1100">
                <a:solidFill>
                  <a:schemeClr val="dk1"/>
                </a:solidFill>
              </a:rPr>
              <a:t>neural networks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Approximates Q-values instead of storing them in a table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Handles </a:t>
            </a:r>
            <a:r>
              <a:rPr b="1" lang="en" sz="1100">
                <a:solidFill>
                  <a:schemeClr val="dk1"/>
                </a:solidFill>
              </a:rPr>
              <a:t>large and complex state spaces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L=E[(r+γmax a ′​Qtarget​(s′,a′)−Q(s,a))^2]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Components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Network → 2-layer MLP (128 units, ReLU)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Replay Buffer → stores past experiences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Target Network → stabilizes 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Policy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ε-greedy strategy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Explore → random action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Exploit → best predicted action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941000" y="1002725"/>
            <a:ext cx="4203000" cy="3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Hyperparameters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α → Learning rate = 0.001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γ → Discount factor = 0.99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ε → Exploration rate = 1.0 → 0.05 (decay = 0.99)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τ → Target update frequency = 20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 → Batch size = 64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Key Idea</a:t>
            </a:r>
            <a:endParaRPr b="1" sz="17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Learns generalized policies using neural networks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Advantage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Scales to large state spaces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More stable than Q-learning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4" title="Blank diagra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02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2434358" y="2147913"/>
            <a:ext cx="4275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Deep Q-Network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MD-</a:t>
            </a: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DQN (Multi-Domain DQN)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139800" y="1002725"/>
            <a:ext cx="4456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MD-DQN (Multi-Domain DQN)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Extension of DQN with </a:t>
            </a:r>
            <a:r>
              <a:rPr b="1" lang="en" sz="1100">
                <a:solidFill>
                  <a:schemeClr val="dk1"/>
                </a:solidFill>
              </a:rPr>
              <a:t>transfer learning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a </a:t>
            </a:r>
            <a:r>
              <a:rPr b="1" lang="en" sz="1100">
                <a:solidFill>
                  <a:schemeClr val="dk1"/>
                </a:solidFill>
              </a:rPr>
              <a:t>pretrained DQN model</a:t>
            </a:r>
            <a:r>
              <a:rPr lang="en" sz="1100">
                <a:solidFill>
                  <a:schemeClr val="dk1"/>
                </a:solidFill>
              </a:rPr>
              <a:t> to guide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learned knowledge (source)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new experience (target)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Modified Target (Key Idea)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y=max(r+γmax a ′ ​ Q target ​ (s ′ ,a ′ ),Q source ​ (s,a))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Components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Source Network → pretrained knowledge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Target Network → current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Replay Buffer → experience storage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4941000" y="1002725"/>
            <a:ext cx="42030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Policy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ε-greedy strategy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Explore → random action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Exploit → best predicted action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Idea</a:t>
            </a:r>
            <a:endParaRPr b="1" sz="17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Accelerates learning by leveraging prior knowledge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Advantage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Faster initial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Better performance in similar environments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Limitation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Depends on similarity between source and target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introduce instability 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 title="ChatGPT Image Apr 21, 2026, 06_59_3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67723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1557883" y="2147913"/>
            <a:ext cx="4275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MD-DQN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Learning Curve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139800" y="1002725"/>
            <a:ext cx="44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6159175" y="1002725"/>
            <a:ext cx="29847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Observations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DQN</a:t>
            </a:r>
            <a:r>
              <a:rPr lang="en" sz="1100">
                <a:solidFill>
                  <a:schemeClr val="dk1"/>
                </a:solidFill>
              </a:rPr>
              <a:t> shows stable and consistent improvement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MD-DQN</a:t>
            </a:r>
            <a:r>
              <a:rPr lang="en" sz="1100">
                <a:solidFill>
                  <a:schemeClr val="dk1"/>
                </a:solidFill>
              </a:rPr>
              <a:t> learns faster in early episodes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Q-learning</a:t>
            </a:r>
            <a:r>
              <a:rPr lang="en" sz="1100">
                <a:solidFill>
                  <a:schemeClr val="dk1"/>
                </a:solidFill>
              </a:rPr>
              <a:t> is slower and more unstable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Variance bands indicate </a:t>
            </a:r>
            <a:r>
              <a:rPr b="1" lang="en" sz="1100">
                <a:solidFill>
                  <a:schemeClr val="dk1"/>
                </a:solidFill>
              </a:rPr>
              <a:t>learning stability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86" name="Google Shape;186;p27" title="avg_learning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2727"/>
            <a:ext cx="6006775" cy="360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Resources + Steps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139800" y="1002725"/>
            <a:ext cx="44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452850" y="3821725"/>
            <a:ext cx="38304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Findings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MD-DQN collects </a:t>
            </a:r>
            <a:r>
              <a:rPr b="1" lang="en" sz="1100">
                <a:solidFill>
                  <a:schemeClr val="dk1"/>
                </a:solidFill>
              </a:rPr>
              <a:t>most resources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DQN takes </a:t>
            </a:r>
            <a:r>
              <a:rPr b="1" lang="en" sz="1100">
                <a:solidFill>
                  <a:schemeClr val="dk1"/>
                </a:solidFill>
              </a:rPr>
              <a:t>fewest steps (most efficient)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Rule-based is </a:t>
            </a:r>
            <a:r>
              <a:rPr b="1" lang="en" sz="1100">
                <a:solidFill>
                  <a:schemeClr val="dk1"/>
                </a:solidFill>
              </a:rPr>
              <a:t>slow and less optimal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94" name="Google Shape;194;p28" title="avg_resources_collected.png"/>
          <p:cNvPicPr preferRelativeResize="0"/>
          <p:nvPr/>
        </p:nvPicPr>
        <p:blipFill rotWithShape="1">
          <a:blip r:embed="rId3">
            <a:alphaModFix/>
          </a:blip>
          <a:srcRect b="2006" l="0" r="0" t="1997"/>
          <a:stretch/>
        </p:blipFill>
        <p:spPr>
          <a:xfrm>
            <a:off x="457200" y="1002725"/>
            <a:ext cx="4247834" cy="2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 title="avg_steps_tak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775" y="959121"/>
            <a:ext cx="4247824" cy="2654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Rewards</a:t>
            </a: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+ Collisions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39800" y="1002725"/>
            <a:ext cx="44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452850" y="3661475"/>
            <a:ext cx="3830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Reward &amp; Safety Analysis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MD-DQN achieves </a:t>
            </a:r>
            <a:r>
              <a:rPr b="1" lang="en" sz="1100">
                <a:solidFill>
                  <a:schemeClr val="dk1"/>
                </a:solidFill>
              </a:rPr>
              <a:t>highest reward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DQN performs </a:t>
            </a:r>
            <a:r>
              <a:rPr b="1" lang="en" sz="1100">
                <a:solidFill>
                  <a:schemeClr val="dk1"/>
                </a:solidFill>
              </a:rPr>
              <a:t>consistently well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203" name="Google Shape;203;p29" title="avg_resources_collected.png"/>
          <p:cNvPicPr preferRelativeResize="0"/>
          <p:nvPr/>
        </p:nvPicPr>
        <p:blipFill rotWithShape="1">
          <a:blip r:embed="rId3">
            <a:alphaModFix/>
          </a:blip>
          <a:srcRect b="2006" l="0" r="0" t="1997"/>
          <a:stretch/>
        </p:blipFill>
        <p:spPr>
          <a:xfrm>
            <a:off x="457200" y="1002725"/>
            <a:ext cx="4247834" cy="2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 title="avg_collision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775" y="959121"/>
            <a:ext cx="4247824" cy="265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4074500" y="4051775"/>
            <a:ext cx="42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Q-learning has </a:t>
            </a:r>
            <a:r>
              <a:rPr b="1" lang="en" sz="1100">
                <a:solidFill>
                  <a:schemeClr val="dk1"/>
                </a:solidFill>
              </a:rPr>
              <a:t>collisions and poor reward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Rule-based is </a:t>
            </a:r>
            <a:r>
              <a:rPr b="1" lang="en" sz="1100">
                <a:solidFill>
                  <a:schemeClr val="dk1"/>
                </a:solidFill>
              </a:rPr>
              <a:t>safe but inefficient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Overall </a:t>
            </a: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Performance</a:t>
            </a: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Comparison 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139800" y="1002725"/>
            <a:ext cx="44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graphicFrame>
        <p:nvGraphicFramePr>
          <p:cNvPr id="212" name="Google Shape;212;p30"/>
          <p:cNvGraphicFramePr/>
          <p:nvPr/>
        </p:nvGraphicFramePr>
        <p:xfrm>
          <a:off x="952500" y="116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{FC07DE5B-5D63-444F-9CD2-8C92953F459E}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Resources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Steps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Reward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Collisions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Rule-Based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Q-Learning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-26.0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DQN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MD-DQN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3" name="Google Shape;213;p30"/>
          <p:cNvSpPr txBox="1"/>
          <p:nvPr/>
        </p:nvSpPr>
        <p:spPr>
          <a:xfrm>
            <a:off x="2942400" y="3426625"/>
            <a:ext cx="4456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MD-DQN → Highest reward &amp; resource collection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DQN → Most efficient (fewest steps)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Q-learning → Unstable, causes collisions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Rule-based → Safe but inefficient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4900800" y="4641200"/>
            <a:ext cx="424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Results averaged over 5 randomized environments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952500" y="3426625"/>
            <a:ext cx="1989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Takeaways: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1" title="ChatGPT Image Apr 21, 2026, 07_45_3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38" y="152400"/>
            <a:ext cx="782412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Conclusion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920500" y="1480225"/>
            <a:ext cx="75204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DQN provides the best balance of efficiency and stability, while MD-DQN achieves higher rewards through transfer learning. Overall, learning-based approaches outperform rule-based methods, highlighting a trade-off between efficiency and reward.</a:t>
            </a:r>
            <a:endParaRPr sz="1800">
              <a:solidFill>
                <a:schemeClr val="dk1"/>
              </a:solidFill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Future Work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920500" y="1480225"/>
            <a:ext cx="75204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Test on larger and more complex maps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Improve transfer learning strategies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Extend to real-world robotics scenarios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Visualizing agent behavior on a dynamic map</a:t>
            </a:r>
            <a:endParaRPr sz="1800">
              <a:solidFill>
                <a:schemeClr val="dk1"/>
              </a:solidFill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References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920500" y="1243325"/>
            <a:ext cx="75204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Sutton, R. S., &amp; Barto, A. G. (2018).</a:t>
            </a:r>
            <a:br>
              <a:rPr lang="en" sz="1800">
                <a:solidFill>
                  <a:schemeClr val="dk1"/>
                </a:solidFill>
              </a:rPr>
            </a:br>
            <a:r>
              <a:rPr i="1" lang="en" sz="1800">
                <a:solidFill>
                  <a:schemeClr val="dk1"/>
                </a:solidFill>
              </a:rPr>
              <a:t>Reinforcement Learning: An Introduction.</a:t>
            </a:r>
            <a:r>
              <a:rPr lang="en" sz="1800">
                <a:solidFill>
                  <a:schemeClr val="dk1"/>
                </a:solidFill>
              </a:rPr>
              <a:t> MIT Press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Mnih, V., Kavukcuoglu, K., Silver, D., et al. (2015).</a:t>
            </a:r>
            <a:br>
              <a:rPr lang="en" sz="1800">
                <a:solidFill>
                  <a:schemeClr val="dk1"/>
                </a:solidFill>
              </a:rPr>
            </a:br>
            <a:r>
              <a:rPr i="1" lang="en" sz="1800">
                <a:solidFill>
                  <a:schemeClr val="dk1"/>
                </a:solidFill>
              </a:rPr>
              <a:t>Human-level control through deep reinforcement learning.</a:t>
            </a:r>
            <a:r>
              <a:rPr lang="en" sz="1800">
                <a:solidFill>
                  <a:schemeClr val="dk1"/>
                </a:solidFill>
              </a:rPr>
              <a:t> Nature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Liu, X., Jeong, J., Taitler, A., Gimelfarb, M., &amp; Sanner, S. (2025).</a:t>
            </a:r>
            <a:br>
              <a:rPr lang="en" sz="1800">
                <a:solidFill>
                  <a:schemeClr val="dk1"/>
                </a:solidFill>
              </a:rPr>
            </a:br>
            <a:r>
              <a:rPr i="1" lang="en" sz="1800">
                <a:solidFill>
                  <a:schemeClr val="dk1"/>
                </a:solidFill>
              </a:rPr>
              <a:t>ModelDiff: Symbolic Dynamic Programming for Model-Aware Policy Transfer in Deep Q-Learning.</a:t>
            </a:r>
            <a:br>
              <a:rPr i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AAAI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 u="sng">
                <a:solidFill>
                  <a:schemeClr val="hlink"/>
                </a:solidFill>
                <a:hlinkClick r:id="rId3"/>
              </a:rPr>
              <a:t>https://doi.org/10.1609/aaai.v39i25.34864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710250" y="23311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Thank you</a:t>
            </a:r>
            <a:endParaRPr sz="280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